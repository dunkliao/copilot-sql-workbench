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>
      <a:defRPr lang="zh-TW">
        <a:latin typeface="Microsoft JhengHei"/>
        <a:ea typeface="Microsoft JhengHei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49808" y="1234440"/>
            <a:ext cx="106070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SQL 變更影響評估 Copilot</a:t>
            </a:r>
            <a:endParaRPr lang="zh-TW" sz="3900"/>
          </a:p>
        </p:txBody>
      </p:sp>
      <p:sp>
        <p:nvSpPr>
          <p:cNvPr id="3" name="Shape 3"/>
          <p:cNvSpPr txBox="1"/>
          <p:nvPr/>
        </p:nvSpPr>
        <p:spPr>
          <a:xfrm>
            <a:off x="777240" y="276148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2300" b="0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用可追溯的欄位血緣，協助工程師整理影響與檢核事項</a:t>
            </a:r>
            <a:endParaRPr lang="zh-TW" sz="2300"/>
          </a:p>
        </p:txBody>
      </p:sp>
      <p:sp>
        <p:nvSpPr>
          <p:cNvPr id="4" name="Shape 4"/>
          <p:cNvSpPr txBox="1"/>
          <p:nvPr/>
        </p:nvSpPr>
        <p:spPr>
          <a:xfrm>
            <a:off x="786384" y="4041648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M365 Copilot 黑客松提案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SQL SPA Tools × Copilot Chat｜合成資料原型</a:t>
            </a:r>
            <a:endParaRPr lang="zh-TW" sz="1700"/>
          </a:p>
        </p:txBody>
      </p:sp>
      <p:sp>
        <p:nvSpPr>
          <p:cNvPr id="5" name="Shape 5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參賽提案｜原型展示規劃｜不代表正式環境核准</a:t>
            </a:r>
            <a:endParaRPr lang="zh-TW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變更影響需要可追溯的整理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777240" y="155448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25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SQL 欄位定義改動</a:t>
            </a:r>
            <a:endParaRPr lang="zh-TW" sz="2500"/>
          </a:p>
        </p:txBody>
      </p:sp>
      <p:sp>
        <p:nvSpPr>
          <p:cNvPr id="4" name="Shape 4"/>
          <p:cNvSpPr txBox="1"/>
          <p:nvPr/>
        </p:nvSpPr>
        <p:spPr>
          <a:xfrm>
            <a:off x="777240" y="2606040"/>
            <a:ext cx="498348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工程師要追查多份下游 SQL，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確認報表與欄位，再整理測試檢核。</a:t>
            </a:r>
            <a:endParaRPr lang="zh-TW" sz="1900"/>
          </a:p>
        </p:txBody>
      </p:sp>
      <p:sp>
        <p:nvSpPr>
          <p:cNvPr id="5" name="Shape 5"/>
          <p:cNvSpPr txBox="1"/>
          <p:nvPr/>
        </p:nvSpPr>
        <p:spPr>
          <a:xfrm>
            <a:off x="6309360" y="155448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25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交接結果不易一致</a:t>
            </a:r>
            <a:endParaRPr lang="zh-TW" sz="2500"/>
          </a:p>
        </p:txBody>
      </p:sp>
      <p:sp>
        <p:nvSpPr>
          <p:cNvPr id="6" name="Shape 6"/>
          <p:cNvSpPr txBox="1"/>
          <p:nvPr/>
        </p:nvSpPr>
        <p:spPr>
          <a:xfrm>
            <a:off x="6309360" y="260604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影響依據、分析限制與待確認事項，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需要用清楚格式交給審查者。</a:t>
            </a:r>
            <a:endParaRPr lang="zh-TW" sz="1900"/>
          </a:p>
        </p:txBody>
      </p:sp>
      <p:sp>
        <p:nvSpPr>
          <p:cNvPr id="7" name="Shape 7"/>
          <p:cNvSpPr txBox="1"/>
          <p:nvPr/>
        </p:nvSpPr>
        <p:spPr>
          <a:xfrm>
            <a:off x="777240" y="5074920"/>
            <a:ext cx="10424160" cy="566928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wrap="square" anchor="ctr" lIns="146304" rIns="146304" tIns="146304" bIns="146304"/>
          <a:lstStyle/>
          <a:p>
            <a:pPr algn="l" marL="0" indent="0">
              <a:lnSpc>
                <a:spcPct val="112000"/>
              </a:lnSpc>
            </a:pPr>
            <a:r>
              <a:rPr lang="zh-TW" sz="2000" b="1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原型定位：靜態分析提供證據，Copilot 協助整理，人員負責覆核。</a:t>
            </a:r>
            <a:endParaRPr lang="zh-TW" sz="2000"/>
          </a:p>
        </p:txBody>
      </p:sp>
      <p:sp>
        <p:nvSpPr>
          <p:cNvPr id="8" name="Shape 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依據：黑客松提案報告〈問題與參賽方向〉</a:t>
            </a:r>
            <a:endParaRPr lang="zh-TW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人員確認後才把摘要交給 Copilot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5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原始 SQL 留在本機分析；變更背景標示未驗證，impacts 依輸入來源欄位篩選。</a:t>
            </a:r>
            <a:endParaRPr lang="zh-TW" sz="1500"/>
          </a:p>
        </p:txBody>
      </p:sp>
      <p:sp>
        <p:nvSpPr>
          <p:cNvPr id="4" name="Shape 4"/>
          <p:cNvSpPr txBox="1"/>
          <p:nvPr/>
        </p:nvSpPr>
        <p:spPr>
          <a:xfrm>
            <a:off x="594360" y="1874520"/>
            <a:ext cx="2148840" cy="1051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109728" rIns="109728" tIns="109728" bIns="109728"/>
          <a:lstStyle/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合成 SQL</a:t>
            </a:r>
            <a:endParaRPr lang="zh-TW" sz="1900"/>
          </a:p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前後版本</a:t>
            </a:r>
            <a:endParaRPr lang="zh-TW" sz="1900"/>
          </a:p>
        </p:txBody>
      </p:sp>
      <p:cxnSp>
        <p:nvCxnSpPr>
          <p:cNvPr id="5" name="Connector 5"/>
          <p:cNvCxnSpPr/>
          <p:nvPr/>
        </p:nvCxnSpPr>
        <p:spPr>
          <a:xfrm>
            <a:off x="2743200" y="2395728"/>
            <a:ext cx="548640" cy="0"/>
          </a:xfrm>
          <a:prstGeom prst="line">
            <a:avLst/>
          </a:prstGeom>
          <a:ln w="25400">
            <a:solidFill>
              <a:srgbClr val="38A6B7"/>
            </a:solidFill>
            <a:tailEnd type="none"/>
            <a:headEnd type="triangle"/>
          </a:ln>
        </p:spPr>
      </p:cxnSp>
      <p:sp>
        <p:nvSpPr>
          <p:cNvPr id="6" name="Shape 6"/>
          <p:cNvSpPr txBox="1"/>
          <p:nvPr/>
        </p:nvSpPr>
        <p:spPr>
          <a:xfrm>
            <a:off x="3310128" y="1874520"/>
            <a:ext cx="2148840" cy="1051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109728" rIns="109728" tIns="109728" bIns="109728"/>
          <a:lstStyle/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SQL 比對與</a:t>
            </a:r>
            <a:endParaRPr lang="zh-TW" sz="1900"/>
          </a:p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欄位血緣</a:t>
            </a:r>
            <a:endParaRPr lang="zh-TW" sz="1900"/>
          </a:p>
        </p:txBody>
      </p:sp>
      <p:cxnSp>
        <p:nvCxnSpPr>
          <p:cNvPr id="7" name="Connector 7"/>
          <p:cNvCxnSpPr/>
          <p:nvPr/>
        </p:nvCxnSpPr>
        <p:spPr>
          <a:xfrm>
            <a:off x="5468112" y="2395728"/>
            <a:ext cx="548640" cy="0"/>
          </a:xfrm>
          <a:prstGeom prst="line">
            <a:avLst/>
          </a:prstGeom>
          <a:ln w="25400">
            <a:solidFill>
              <a:srgbClr val="38A6B7"/>
            </a:solidFill>
            <a:tailEnd type="none"/>
            <a:headEnd type="triangle"/>
          </a:ln>
        </p:spPr>
      </p:cxnSp>
      <p:sp>
        <p:nvSpPr>
          <p:cNvPr id="8" name="Shape 8"/>
          <p:cNvSpPr txBox="1"/>
          <p:nvPr/>
        </p:nvSpPr>
        <p:spPr>
          <a:xfrm>
            <a:off x="6035040" y="1874520"/>
            <a:ext cx="2148840" cy="1051560"/>
          </a:xfrm>
          <a:prstGeom prst="rect">
            <a:avLst/>
          </a:prstGeom>
          <a:solidFill>
            <a:srgbClr val="EAF3F8"/>
          </a:solidFill>
          <a:ln w="12700">
            <a:solidFill>
              <a:srgbClr val="38A6B7"/>
            </a:solidFill>
          </a:ln>
        </p:spPr>
        <p:txBody>
          <a:bodyPr wrap="square" anchor="ctr" lIns="109728" rIns="109728" tIns="109728" bIns="109728"/>
          <a:lstStyle/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輸入變更資訊</a:t>
            </a:r>
            <a:endParaRPr lang="zh-TW" sz="1900"/>
          </a:p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最小 JSON</a:t>
            </a:r>
            <a:endParaRPr lang="zh-TW" sz="1900"/>
          </a:p>
        </p:txBody>
      </p:sp>
      <p:cxnSp>
        <p:nvCxnSpPr>
          <p:cNvPr id="9" name="Connector 9"/>
          <p:cNvCxnSpPr/>
          <p:nvPr/>
        </p:nvCxnSpPr>
        <p:spPr>
          <a:xfrm>
            <a:off x="8193024" y="2395728"/>
            <a:ext cx="530352" cy="0"/>
          </a:xfrm>
          <a:prstGeom prst="line">
            <a:avLst/>
          </a:prstGeom>
          <a:ln w="25400">
            <a:solidFill>
              <a:srgbClr val="38A6B7"/>
            </a:solidFill>
            <a:tailEnd type="none"/>
            <a:headEnd type="triangle"/>
          </a:ln>
        </p:spPr>
      </p:cxnSp>
      <p:sp>
        <p:nvSpPr>
          <p:cNvPr id="10" name="Shape 10"/>
          <p:cNvSpPr txBox="1"/>
          <p:nvPr/>
        </p:nvSpPr>
        <p:spPr>
          <a:xfrm>
            <a:off x="8741664" y="1874520"/>
            <a:ext cx="2423160" cy="1051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109728" rIns="109728" tIns="109728" bIns="109728"/>
          <a:lstStyle/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Copilot Chat</a:t>
            </a:r>
            <a:endParaRPr lang="zh-TW" sz="1900"/>
          </a:p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整理影響與檢核</a:t>
            </a:r>
            <a:endParaRPr lang="zh-TW" sz="1900"/>
          </a:p>
        </p:txBody>
      </p:sp>
      <p:sp>
        <p:nvSpPr>
          <p:cNvPr id="11" name="Shape 11"/>
          <p:cNvSpPr txBox="1"/>
          <p:nvPr/>
        </p:nvSpPr>
        <p:spPr>
          <a:xfrm>
            <a:off x="822960" y="3794760"/>
            <a:ext cx="489204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送出前：操作者檢查資料與名稱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不確定是否可上傳，就停止並確認</a:t>
            </a:r>
            <a:endParaRPr lang="zh-TW" sz="1700"/>
          </a:p>
        </p:txBody>
      </p:sp>
      <p:sp>
        <p:nvSpPr>
          <p:cNvPr id="12" name="Shape 12"/>
          <p:cNvSpPr txBox="1"/>
          <p:nvPr/>
        </p:nvSpPr>
        <p:spPr>
          <a:xfrm>
            <a:off x="6309360" y="3794760"/>
            <a:ext cx="4937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收到回答後：逐項對照 JSON 證據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Copilot 不核准、不執行 SQL、不部署</a:t>
            </a:r>
            <a:endParaRPr lang="zh-TW" sz="1700"/>
          </a:p>
        </p:txBody>
      </p:sp>
      <p:sp>
        <p:nvSpPr>
          <p:cNvPr id="13" name="Shape 13"/>
          <p:cNvSpPr txBox="1"/>
          <p:nvPr/>
        </p:nvSpPr>
        <p:spPr>
          <a:xfrm>
            <a:off x="822960" y="523036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800" b="1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可取消匯出；失敗時保留本機分析結果</a:t>
            </a:r>
            <a:endParaRPr lang="zh-TW" sz="1800"/>
          </a:p>
        </p:txBody>
      </p:sp>
      <p:sp>
        <p:nvSpPr>
          <p:cNvPr id="14" name="Shape 1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依據：原型設計與摘要匯出實作</a:t>
            </a:r>
            <a:endParaRPr lang="zh-TW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合成案例預期找到兩個下游欄位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5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來源欄位 CUSTOMER_SEGMENT 的定義長度由 VARCHAR2(20) 調整為 VARCHAR2(40)。</a:t>
            </a:r>
            <a:endParaRPr lang="zh-TW" sz="1500"/>
          </a:p>
        </p:txBody>
      </p:sp>
      <p:sp>
        <p:nvSpPr>
          <p:cNvPr id="4" name="Shape 4"/>
          <p:cNvSpPr txBox="1"/>
          <p:nvPr/>
        </p:nvSpPr>
        <p:spPr>
          <a:xfrm>
            <a:off x="685800" y="1993392"/>
            <a:ext cx="3474720" cy="1005840"/>
          </a:xfrm>
          <a:prstGeom prst="rect">
            <a:avLst/>
          </a:prstGeom>
          <a:solidFill>
            <a:srgbClr val="EAF3F8"/>
          </a:solidFill>
          <a:ln w="12700">
            <a:solidFill>
              <a:srgbClr val="38A6B7"/>
            </a:solidFill>
          </a:ln>
        </p:spPr>
        <p:txBody>
          <a:bodyPr wrap="square" anchor="ctr" lIns="109728" rIns="109728" tIns="109728" bIns="109728"/>
          <a:lstStyle/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DEMO_CUSTOMER</a:t>
            </a:r>
            <a:endParaRPr lang="zh-TW" sz="1900"/>
          </a:p>
          <a:p>
            <a:pPr algn="ctr" marL="0" indent="0">
              <a:lnSpc>
                <a:spcPct val="112000"/>
              </a:lnSpc>
            </a:pPr>
            <a:r>
              <a:rPr lang="zh-TW" sz="19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CUSTOMER_SEGMENT</a:t>
            </a:r>
            <a:endParaRPr lang="zh-TW" sz="1900"/>
          </a:p>
        </p:txBody>
      </p:sp>
      <p:cxnSp>
        <p:nvCxnSpPr>
          <p:cNvPr id="5" name="Connector 5"/>
          <p:cNvCxnSpPr/>
          <p:nvPr/>
        </p:nvCxnSpPr>
        <p:spPr>
          <a:xfrm>
            <a:off x="4206240" y="2340864"/>
            <a:ext cx="1280160" cy="0"/>
          </a:xfrm>
          <a:prstGeom prst="line">
            <a:avLst/>
          </a:prstGeom>
          <a:ln w="25400">
            <a:solidFill>
              <a:srgbClr val="38A6B7"/>
            </a:solidFill>
            <a:tailEnd type="none"/>
            <a:headEnd type="triangle"/>
          </a:ln>
        </p:spPr>
      </p:cxnSp>
      <p:sp>
        <p:nvSpPr>
          <p:cNvPr id="6" name="Shape 6"/>
          <p:cNvSpPr txBox="1"/>
          <p:nvPr/>
        </p:nvSpPr>
        <p:spPr>
          <a:xfrm>
            <a:off x="4315968" y="204825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100" b="1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直接影響</a:t>
            </a:r>
            <a:endParaRPr lang="zh-TW" sz="1100"/>
          </a:p>
        </p:txBody>
      </p:sp>
      <p:sp>
        <p:nvSpPr>
          <p:cNvPr id="7" name="Shape 7"/>
          <p:cNvSpPr txBox="1"/>
          <p:nvPr/>
        </p:nvSpPr>
        <p:spPr>
          <a:xfrm>
            <a:off x="5623560" y="1481328"/>
            <a:ext cx="475488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91440" rIns="91440" tIns="91440" bIns="91440"/>
          <a:lstStyle/>
          <a:p>
            <a:pPr algn="l" marL="0" indent="0">
              <a:lnSpc>
                <a:spcPct val="112000"/>
              </a:lnSpc>
            </a:pPr>
            <a:r>
              <a:rPr lang="zh-TW" sz="1700" b="1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DEMO_MONTHLY_REPORT.SEGMENT_LABEL</a:t>
            </a:r>
            <a:endParaRPr lang="zh-TW" sz="1700"/>
          </a:p>
        </p:txBody>
      </p:sp>
      <p:cxnSp>
        <p:nvCxnSpPr>
          <p:cNvPr id="8" name="Connector 8"/>
          <p:cNvCxnSpPr/>
          <p:nvPr/>
        </p:nvCxnSpPr>
        <p:spPr>
          <a:xfrm>
            <a:off x="4206240" y="2578608"/>
            <a:ext cx="777240" cy="0"/>
          </a:xfrm>
          <a:prstGeom prst="line">
            <a:avLst/>
          </a:prstGeom>
          <a:ln w="25400">
            <a:solidFill>
              <a:srgbClr val="38A6B7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4983480" y="2578608"/>
            <a:ext cx="0" cy="987552"/>
          </a:xfrm>
          <a:prstGeom prst="line">
            <a:avLst/>
          </a:prstGeom>
          <a:ln w="25400">
            <a:solidFill>
              <a:srgbClr val="38A6B7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4983480" y="3566160"/>
            <a:ext cx="502920" cy="0"/>
          </a:xfrm>
          <a:prstGeom prst="line">
            <a:avLst/>
          </a:prstGeom>
          <a:ln w="25400">
            <a:solidFill>
              <a:srgbClr val="38A6B7"/>
            </a:solidFill>
            <a:tailEnd type="none"/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4224528" y="2706624"/>
            <a:ext cx="69494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100" b="1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間接</a:t>
            </a:r>
            <a:endParaRPr lang="zh-TW" sz="1100"/>
          </a:p>
        </p:txBody>
      </p:sp>
      <p:sp>
        <p:nvSpPr>
          <p:cNvPr id="12" name="Shape 12"/>
          <p:cNvSpPr txBox="1"/>
          <p:nvPr/>
        </p:nvSpPr>
        <p:spPr>
          <a:xfrm>
            <a:off x="5623560" y="3200400"/>
            <a:ext cx="475488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91440" rIns="91440" tIns="91440" bIns="91440"/>
          <a:lstStyle/>
          <a:p>
            <a:pPr algn="l" marL="0" indent="0">
              <a:lnSpc>
                <a:spcPct val="112000"/>
              </a:lnSpc>
            </a:pPr>
            <a:r>
              <a:rPr lang="zh-TW" sz="1700" b="1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DEMO_RISK_SEGMENTATION.RISK_BUCKET</a:t>
            </a:r>
            <a:endParaRPr lang="zh-TW" sz="1700"/>
          </a:p>
        </p:txBody>
      </p:sp>
      <p:sp>
        <p:nvSpPr>
          <p:cNvPr id="13" name="Shape 13"/>
          <p:cNvSpPr txBox="1"/>
          <p:nvPr/>
        </p:nvSpPr>
        <p:spPr>
          <a:xfrm>
            <a:off x="822960" y="4590288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固定合成案例的預期影響集合。Copilot 尚未完成實測；靜態分析不保證涵蓋所有 SQL 相依。</a:t>
            </a:r>
            <a:endParaRPr lang="zh-TW" sz="1700"/>
          </a:p>
        </p:txBody>
      </p:sp>
      <p:sp>
        <p:nvSpPr>
          <p:cNvPr id="14" name="Shape 1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來源：uat-fixtures/copilot-impact-demo/expected.json</a:t>
            </a:r>
            <a:endParaRPr lang="zh-TW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資料邊界與人工覆核寫進流程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777240" y="1536192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上傳內容限合成資料與必要中繼資料</a:t>
            </a:r>
            <a:endParaRPr lang="zh-TW" sz="2100"/>
          </a:p>
        </p:txBody>
      </p:sp>
      <p:sp>
        <p:nvSpPr>
          <p:cNvPr id="4" name="Shape 4"/>
          <p:cNvSpPr txBox="1"/>
          <p:nvPr/>
        </p:nvSpPr>
        <p:spPr>
          <a:xfrm>
            <a:off x="960120" y="2267712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原始 SQL 留在本機分析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匯出不帶 SQL、運算式、路徑或錯誤全文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使用者確認後才下載 JSON</a:t>
            </a:r>
            <a:endParaRPr lang="zh-TW" sz="1700"/>
          </a:p>
        </p:txBody>
      </p:sp>
      <p:sp>
        <p:nvSpPr>
          <p:cNvPr id="5" name="Shape 5"/>
          <p:cNvSpPr txBox="1"/>
          <p:nvPr/>
        </p:nvSpPr>
        <p:spPr>
          <a:xfrm>
            <a:off x="6263640" y="1536192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物件名稱仍須由操作者檢查</a:t>
            </a:r>
            <a:endParaRPr lang="zh-TW" sz="2100"/>
          </a:p>
        </p:txBody>
      </p:sp>
      <p:sp>
        <p:nvSpPr>
          <p:cNvPr id="6" name="Shape 6"/>
          <p:cNvSpPr txBox="1"/>
          <p:nvPr/>
        </p:nvSpPr>
        <p:spPr>
          <a:xfrm>
            <a:off x="6446520" y="2267712"/>
            <a:ext cx="470916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36576" bIns="36576"/>
          <a:lstStyle/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不含帳號、身分證字號、金融識別資訊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不確定資料分類時先停止上傳</a:t>
            </a:r>
            <a:endParaRPr lang="zh-TW" sz="1700"/>
          </a:p>
          <a:p>
            <a:pPr algn="l" marL="0" indent="0">
              <a:lnSpc>
                <a:spcPct val="112000"/>
              </a:lnSpc>
            </a:pPr>
            <a:r>
              <a:rPr lang="zh-TW" sz="17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• Copilot 回答由工程師逐項覆核</a:t>
            </a:r>
            <a:endParaRPr lang="zh-TW" sz="1700"/>
          </a:p>
        </p:txBody>
      </p:sp>
      <p:sp>
        <p:nvSpPr>
          <p:cNvPr id="7" name="Shape 7"/>
          <p:cNvSpPr txBox="1"/>
          <p:nvPr/>
        </p:nvSpPr>
        <p:spPr>
          <a:xfrm>
            <a:off x="822960" y="4800600"/>
            <a:ext cx="10378440" cy="685800"/>
          </a:xfrm>
          <a:prstGeom prst="rect">
            <a:avLst/>
          </a:prstGeom>
          <a:solidFill>
            <a:srgbClr val="FFF2DF"/>
          </a:solidFill>
          <a:ln>
            <a:noFill/>
          </a:ln>
        </p:spPr>
        <p:txBody>
          <a:bodyPr wrap="square" anchor="ctr" lIns="118872" rIns="118872" tIns="118872" bIns="118872"/>
          <a:lstStyle/>
          <a:p>
            <a:pPr algn="l" marL="0" indent="0">
              <a:lnSpc>
                <a:spcPct val="112000"/>
              </a:lnSpc>
            </a:pPr>
            <a:r>
              <a:rPr lang="zh-TW" sz="1800" b="1" i="0">
                <a:solidFill>
                  <a:srgbClr val="B86A16"/>
                </a:solidFill>
                <a:latin typeface="Microsoft JhengHei"/>
                <a:ea typeface="Microsoft JhengHei"/>
              </a:rPr>
              <a:t xml:space="preserve">目前只用合成資料展示；正式使用須先確認銀行資料治理、核准租用戶與 DLP 規則。</a:t>
            </a:r>
            <a:endParaRPr lang="zh-TW" sz="1800"/>
          </a:p>
        </p:txBody>
      </p:sp>
      <p:sp>
        <p:nvSpPr>
          <p:cNvPr id="8" name="Shape 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依據：黑客松提案報告〈資料安全與責任邊界〉</a:t>
            </a:r>
            <a:endParaRPr lang="zh-TW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先量測，再提出效益主張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5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計畫採同一合成案例，比較人工流程與原型流程；目前尚未填入實測數據。</a:t>
            </a:r>
            <a:endParaRPr lang="zh-TW" sz="1500"/>
          </a:p>
        </p:txBody>
      </p:sp>
      <p:sp>
        <p:nvSpPr>
          <p:cNvPr id="4" name="Shape 4"/>
          <p:cNvSpPr txBox="1"/>
          <p:nvPr/>
        </p:nvSpPr>
        <p:spPr>
          <a:xfrm>
            <a:off x="777240" y="1645920"/>
            <a:ext cx="4846320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3DEE8"/>
            </a:solidFill>
          </a:ln>
        </p:spPr>
        <p:txBody>
          <a:bodyPr wrap="square" anchor="ctr" lIns="164592" rIns="164592" tIns="164592" bIns="164592"/>
          <a:lstStyle/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人工流程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/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閱讀變更前後 DDL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搜尋下游 SQL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整理影響與檢核事項</a:t>
            </a:r>
            <a:endParaRPr lang="zh-TW" sz="1900"/>
          </a:p>
        </p:txBody>
      </p:sp>
      <p:sp>
        <p:nvSpPr>
          <p:cNvPr id="5" name="Shape 5"/>
          <p:cNvSpPr txBox="1"/>
          <p:nvPr/>
        </p:nvSpPr>
        <p:spPr>
          <a:xfrm>
            <a:off x="6400800" y="1645920"/>
            <a:ext cx="4800600" cy="3200400"/>
          </a:xfrm>
          <a:prstGeom prst="rect">
            <a:avLst/>
          </a:prstGeom>
          <a:solidFill>
            <a:srgbClr val="EAF3F8"/>
          </a:solidFill>
          <a:ln w="12700">
            <a:solidFill>
              <a:srgbClr val="38A6B7"/>
            </a:solidFill>
          </a:ln>
        </p:spPr>
        <p:txBody>
          <a:bodyPr wrap="square" anchor="ctr" lIns="164592" rIns="164592" tIns="164592" bIns="164592"/>
          <a:lstStyle/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原型流程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/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SQL 比對與血緣分析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預覽 JSON、Copilot 整理</a:t>
            </a:r>
            <a:endParaRPr lang="zh-TW" sz="1900"/>
          </a:p>
          <a:p>
            <a:pPr algn="l" marL="0" indent="0">
              <a:lnSpc>
                <a:spcPct val="112000"/>
              </a:lnSpc>
            </a:pPr>
            <a:r>
              <a:rPr lang="zh-TW" sz="19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人工核對證據與限制</a:t>
            </a:r>
            <a:endParaRPr lang="zh-TW" sz="1900"/>
          </a:p>
        </p:txBody>
      </p:sp>
      <p:cxnSp>
        <p:nvCxnSpPr>
          <p:cNvPr id="6" name="Connector 6"/>
          <p:cNvCxnSpPr/>
          <p:nvPr/>
        </p:nvCxnSpPr>
        <p:spPr>
          <a:xfrm>
            <a:off x="5596128" y="3154680"/>
            <a:ext cx="758952" cy="0"/>
          </a:xfrm>
          <a:prstGeom prst="line">
            <a:avLst/>
          </a:prstGeom>
          <a:ln w="25400">
            <a:solidFill>
              <a:srgbClr val="2166A5"/>
            </a:solidFill>
            <a:tailEnd type="none"/>
            <a:headEnd type="triangle"/>
          </a:ln>
        </p:spPr>
      </p:cxnSp>
      <p:sp>
        <p:nvSpPr>
          <p:cNvPr id="7" name="Shape 7"/>
          <p:cNvSpPr txBox="1"/>
          <p:nvPr/>
        </p:nvSpPr>
        <p:spPr>
          <a:xfrm>
            <a:off x="822960" y="5230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700" b="1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至少三組配對試次｜記錄耗時、步驟、命中／漏列／誤列、證據一致性及警告揭露</a:t>
            </a:r>
            <a:endParaRPr lang="zh-TW" sz="1700"/>
          </a:p>
        </p:txBody>
      </p:sp>
      <p:sp>
        <p:nvSpPr>
          <p:cNvPr id="8" name="Shape 8"/>
          <p:cNvSpPr txBox="1"/>
          <p:nvPr/>
        </p:nvSpPr>
        <p:spPr>
          <a:xfrm>
            <a:off x="822960" y="5888736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15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禁止預先宣稱節省百分比；單一案例結果不外推為全行效益。</a:t>
            </a:r>
            <a:endParaRPr lang="zh-TW" sz="1500"/>
          </a:p>
        </p:txBody>
      </p:sp>
      <p:sp>
        <p:nvSpPr>
          <p:cNvPr id="9" name="Shape 9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依據：成效驗證計畫與紀錄</a:t>
            </a:r>
            <a:endParaRPr lang="zh-TW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目前完成原型檢查，仍需真實流程演練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777240" y="15087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 algn="l" marL="0" indent="0">
              <a:lnSpc>
                <a:spcPct val="112000"/>
              </a:lnSpc>
            </a:pPr>
            <a:r>
              <a:rPr lang="zh-TW" sz="2200" b="1" i="0">
                <a:solidFill>
                  <a:srgbClr val="2F755E"/>
                </a:solidFill>
                <a:latin typeface="Microsoft JhengHei"/>
                <a:ea typeface="Microsoft JhengHei"/>
              </a:rPr>
              <a:t xml:space="preserve">已完成</a:t>
            </a:r>
            <a:endParaRPr lang="zh-TW" sz="2200"/>
          </a:p>
        </p:txBody>
      </p:sp>
      <p:sp>
        <p:nvSpPr>
          <p:cNvPr id="4" name="Shape 4"/>
          <p:cNvSpPr txBox="1"/>
          <p:nvPr/>
        </p:nvSpPr>
        <p:spPr>
          <a:xfrm>
            <a:off x="868680" y="2121408"/>
            <a:ext cx="493776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摘要預覽與使用者確認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固定合成 SQL 案例及預期清單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解析警告案例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自動化回歸檢查</a:t>
            </a:r>
            <a:endParaRPr lang="zh-TW" sz="1800"/>
          </a:p>
        </p:txBody>
      </p:sp>
      <p:sp>
        <p:nvSpPr>
          <p:cNvPr id="5" name="Shape 5"/>
          <p:cNvSpPr txBox="1"/>
          <p:nvPr/>
        </p:nvSpPr>
        <p:spPr>
          <a:xfrm>
            <a:off x="6263640" y="15087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 algn="l" marL="0" indent="0">
              <a:lnSpc>
                <a:spcPct val="112000"/>
              </a:lnSpc>
            </a:pPr>
            <a:r>
              <a:rPr lang="zh-TW" sz="2200" b="1" i="0">
                <a:solidFill>
                  <a:srgbClr val="B86A16"/>
                </a:solidFill>
                <a:latin typeface="Microsoft JhengHei"/>
                <a:ea typeface="Microsoft JhengHei"/>
              </a:rPr>
              <a:t xml:space="preserve">待完成</a:t>
            </a:r>
            <a:endParaRPr lang="zh-TW" sz="2200"/>
          </a:p>
        </p:txBody>
      </p:sp>
      <p:sp>
        <p:nvSpPr>
          <p:cNvPr id="6" name="Shape 6"/>
          <p:cNvSpPr txBox="1"/>
          <p:nvPr/>
        </p:nvSpPr>
        <p:spPr>
          <a:xfrm>
            <a:off x="6355080" y="2121408"/>
            <a:ext cx="489204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rIns="45720" tIns="45720" bIns="45720"/>
          <a:lstStyle/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M365 Copilot Chat 回答演練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三組以上配對效益量測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上傳失敗與缺資料情境演練</a:t>
            </a:r>
            <a:endParaRPr lang="zh-TW" sz="1800"/>
          </a:p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3364D"/>
                </a:solidFill>
                <a:latin typeface="Microsoft JhengHei"/>
                <a:ea typeface="Microsoft JhengHei"/>
              </a:rPr>
              <a:t xml:space="preserve">官方競賽規則及資料分類確認</a:t>
            </a:r>
            <a:endParaRPr lang="zh-TW" sz="1800"/>
          </a:p>
        </p:txBody>
      </p:sp>
      <p:sp>
        <p:nvSpPr>
          <p:cNvPr id="7" name="Shape 7"/>
          <p:cNvSpPr txBox="1"/>
          <p:nvPr/>
        </p:nvSpPr>
        <p:spPr>
          <a:xfrm>
            <a:off x="822960" y="5102352"/>
            <a:ext cx="10424160" cy="640080"/>
          </a:xfrm>
          <a:prstGeom prst="rect">
            <a:avLst/>
          </a:prstGeom>
          <a:solidFill>
            <a:srgbClr val="FFF2DF"/>
          </a:solidFill>
          <a:ln>
            <a:noFill/>
          </a:ln>
        </p:spPr>
        <p:txBody>
          <a:bodyPr wrap="square" anchor="ctr" lIns="109728" rIns="109728" tIns="109728" bIns="109728"/>
          <a:lstStyle/>
          <a:p>
            <a:pPr algn="l" marL="0" indent="0">
              <a:lnSpc>
                <a:spcPct val="112000"/>
              </a:lnSpc>
            </a:pPr>
            <a:r>
              <a:rPr lang="zh-TW" sz="1600" b="1" i="0">
                <a:solidFill>
                  <a:srgbClr val="B86A16"/>
                </a:solidFill>
                <a:latin typeface="Microsoft JhengHei"/>
                <a:ea typeface="Microsoft JhengHei"/>
              </a:rPr>
              <a:t xml:space="preserve">變更欄位由操作者依 SQL Compare 輸入並核對；impacts 依此篩選，工具仍未驗證 SQL 差異。</a:t>
            </a:r>
            <a:endParaRPr lang="zh-TW" sz="1600"/>
          </a:p>
        </p:txBody>
      </p:sp>
      <p:sp>
        <p:nvSpPr>
          <p:cNvPr id="8" name="Shape 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依據：參賽準備 TODO 與目前 JSON 匯出欄位</a:t>
            </a:r>
            <a:endParaRPr lang="zh-TW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34747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3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下一步是完成可重複的端到端證據</a:t>
            </a:r>
            <a:endParaRPr lang="zh-TW" sz="3100"/>
          </a:p>
        </p:txBody>
      </p:sp>
      <p:sp>
        <p:nvSpPr>
          <p:cNvPr id="3" name="Shape 3"/>
          <p:cNvSpPr txBox="1"/>
          <p:nvPr/>
        </p:nvSpPr>
        <p:spPr>
          <a:xfrm>
            <a:off x="822960" y="1572768"/>
            <a:ext cx="10378440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1　確認官方提交、評分與 Demo 規則</a:t>
            </a:r>
            <a:endParaRPr lang="zh-TW" sz="2100"/>
          </a:p>
        </p:txBody>
      </p:sp>
      <p:sp>
        <p:nvSpPr>
          <p:cNvPr id="4" name="Shape 4"/>
          <p:cNvSpPr txBox="1"/>
          <p:nvPr/>
        </p:nvSpPr>
        <p:spPr>
          <a:xfrm>
            <a:off x="822960" y="2487168"/>
            <a:ext cx="10378440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2　在核准的 M365 環境用合成 JSON 演練</a:t>
            </a:r>
            <a:endParaRPr lang="zh-TW" sz="2100"/>
          </a:p>
        </p:txBody>
      </p:sp>
      <p:sp>
        <p:nvSpPr>
          <p:cNvPr id="5" name="Shape 5"/>
          <p:cNvSpPr txBox="1"/>
          <p:nvPr/>
        </p:nvSpPr>
        <p:spPr>
          <a:xfrm>
            <a:off x="822960" y="3401568"/>
            <a:ext cx="10378440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3　完成配對量測與失敗情境紀錄</a:t>
            </a:r>
            <a:endParaRPr lang="zh-TW" sz="2100"/>
          </a:p>
        </p:txBody>
      </p:sp>
      <p:sp>
        <p:nvSpPr>
          <p:cNvPr id="6" name="Shape 6"/>
          <p:cNvSpPr txBox="1"/>
          <p:nvPr/>
        </p:nvSpPr>
        <p:spPr>
          <a:xfrm>
            <a:off x="822960" y="4315968"/>
            <a:ext cx="10378440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/>
          <a:lstStyle/>
          <a:p>
            <a:pPr algn="l" marL="0" indent="0">
              <a:lnSpc>
                <a:spcPct val="112000"/>
              </a:lnSpc>
            </a:pPr>
            <a:r>
              <a:rPr lang="zh-TW" sz="2100" b="1" i="0">
                <a:solidFill>
                  <a:srgbClr val="142D4E"/>
                </a:solidFill>
                <a:latin typeface="Microsoft JhengHei"/>
                <a:ea typeface="Microsoft JhengHei"/>
              </a:rPr>
              <a:t xml:space="preserve">4　依實測結果更新提案主張與 Demo 腳本</a:t>
            </a:r>
            <a:endParaRPr lang="zh-TW" sz="2100"/>
          </a:p>
        </p:txBody>
      </p:sp>
      <p:sp>
        <p:nvSpPr>
          <p:cNvPr id="7" name="Shape 7"/>
          <p:cNvSpPr txBox="1"/>
          <p:nvPr/>
        </p:nvSpPr>
        <p:spPr>
          <a:xfrm>
            <a:off x="82296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 algn="l" marL="0" indent="0">
              <a:lnSpc>
                <a:spcPct val="112000"/>
              </a:lnSpc>
            </a:pPr>
            <a:r>
              <a:rPr lang="zh-TW" sz="1800" b="0" i="0">
                <a:solidFill>
                  <a:srgbClr val="2166A5"/>
                </a:solidFill>
                <a:latin typeface="Microsoft JhengHei"/>
                <a:ea typeface="Microsoft JhengHei"/>
              </a:rPr>
              <a:t xml:space="preserve">決策請求：確認資料上傳規範、測試租用戶與競賽交付條件。</a:t>
            </a:r>
            <a:endParaRPr lang="zh-TW" sz="1800"/>
          </a:p>
        </p:txBody>
      </p:sp>
      <p:sp>
        <p:nvSpPr>
          <p:cNvPr id="8" name="Shape 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 marL="0" indent="0">
              <a:lnSpc>
                <a:spcPct val="112000"/>
              </a:lnSpc>
            </a:pPr>
            <a:r>
              <a:rPr lang="zh-TW" sz="900" b="0" i="0">
                <a:solidFill>
                  <a:srgbClr val="617489"/>
                </a:solidFill>
                <a:latin typeface="Microsoft JhengHei"/>
                <a:ea typeface="Microsoft JhengHei"/>
              </a:rPr>
              <a:t xml:space="preserve">依據：參賽準備 TODO</a:t>
            </a:r>
            <a:endParaRPr lang="zh-TW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ckathon">
      <a:dk1>
        <a:srgbClr val="142D4E"/>
      </a:dk1>
      <a:lt1>
        <a:srgbClr val="FFFFFF"/>
      </a:lt1>
      <a:dk2>
        <a:srgbClr val="23364D"/>
      </a:dk2>
      <a:lt2>
        <a:srgbClr val="F4F7FA"/>
      </a:lt2>
      <a:accent1>
        <a:srgbClr val="2166A5"/>
      </a:accent1>
      <a:accent2>
        <a:srgbClr val="38A6B7"/>
      </a:accent2>
      <a:accent3>
        <a:srgbClr val="2F755E"/>
      </a:accent3>
      <a:accent4>
        <a:srgbClr val="B86A16"/>
      </a:accent4>
      <a:accent5>
        <a:srgbClr val="617489"/>
      </a:accent5>
      <a:accent6>
        <a:srgbClr val="D3DEE8"/>
      </a:accent6>
      <a:hlink>
        <a:srgbClr val="0563C1"/>
      </a:hlink>
      <a:folHlink>
        <a:srgbClr val="954F72"/>
      </a:folHlink>
    </a:clrScheme>
    <a:fontScheme name="Hackathon Fonts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Hackatho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SQL 變更影響評估 Copilot 提案簡報</dc:title>
  <dc:subject>M365 Copilot 黑客松合成資料原型</dc:subject>
  <dc:creator>參賽團隊</dc:creator>
</cp:coreProperties>
</file>